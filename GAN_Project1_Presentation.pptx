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MNIST</c:v>
                </c:pt>
              </c:strCache>
            </c:strRef>
          </c:tx>
          <c:spPr>
            <a:solidFill>
              <a:srgbClr val="9AA3C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AA3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BBA-408C-A1D3-F138D1270D23}"/>
              </c:ext>
            </c:extLst>
          </c:dPt>
          <c:dPt>
            <c:idx val="1"/>
            <c:invertIfNegative val="0"/>
            <c:bubble3D val="0"/>
            <c:spPr>
              <a:solidFill>
                <a:srgbClr val="9AA3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BBA-408C-A1D3-F138D1270D23}"/>
              </c:ext>
            </c:extLst>
          </c:dPt>
          <c:dPt>
            <c:idx val="2"/>
            <c:invertIfNegative val="0"/>
            <c:bubble3D val="0"/>
            <c:spPr>
              <a:solidFill>
                <a:srgbClr val="9AA3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BBA-408C-A1D3-F138D1270D23}"/>
              </c:ext>
            </c:extLst>
          </c:dPt>
          <c:dPt>
            <c:idx val="3"/>
            <c:invertIfNegative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BBA-408C-A1D3-F138D1270D2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0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DBN</c:v>
                </c:pt>
                <c:pt idx="1">
                  <c:v>Stacked CAE</c:v>
                </c:pt>
                <c:pt idx="2">
                  <c:v>Deep GSN</c:v>
                </c:pt>
                <c:pt idx="3">
                  <c:v>Adversarial nets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138</c:v>
                </c:pt>
                <c:pt idx="1">
                  <c:v>121</c:v>
                </c:pt>
                <c:pt idx="2">
                  <c:v>214</c:v>
                </c:pt>
                <c:pt idx="3">
                  <c:v>225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BBA-408C-A1D3-F138D1270D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0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6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250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paper (Goodfellow et al., NIPS 2014) and why it mattered: it introduced a generative model trained without Markov chains or approximate inference. The image is our own epoch-60 sample grid. Replace the GitHub placeholder with your repository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Workflow: noise goes through G to make a fake image; D sees both fake and real images and outputs a real/fake score. D is trained to separate them, G is trained to fool D. Explain the minimax objective, then the practical tweaks (non-saturating loss, label smoothing).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that the core architecture idea (maxout discriminator with dropout, MLP generator, k=1) follows the paper, while the optimizer, BatchNorm, non-saturating loss and label smoothing are modern stabilising practices. The Parzen-window metric was not reproduced.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 numbers are from Table 1 of Goodfellow et al. (Parzen-window estimates, MNIST). Our notebook did not compute Parzen log-likelihood, so the comparison is qualitative. D loss uses label smoothing, so its equilibrium reference value is 2 ln 2 = 1.386; we end at ~1.08 (D slightly ahead) and G at ~1.48.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honestly: qualitative reproduction succeeded; the quantitative Parzen-window metric was not evaluated. Future work would close that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E_9PuhEafMA9WoBxo3sg2rQIAdcJYwO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Adversarial Nets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Goodfellow, Pouget-Abadie, Mirza, Xu, Warde-Farley, Ozair, Courville, Bengio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(NIPS) 2014  ·  Advances in Neural Information Processing Systems 27  ·  Université de Montréal  ·  arXiv:1406.2661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39" y="2560320"/>
            <a:ext cx="5264331" cy="2697480"/>
          </a:xfrm>
          <a:prstGeom prst="roundRect">
            <a:avLst>
              <a:gd name="adj" fmla="val 3390"/>
            </a:avLst>
          </a:prstGeom>
          <a:solidFill>
            <a:srgbClr val="1C2242"/>
          </a:solidFill>
          <a:ln w="12700">
            <a:solidFill>
              <a:srgbClr val="1C22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4596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problem &amp; motivation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37884"/>
            <a:ext cx="47828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generative models relied on intractable likelihood computations and approximate inference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exploit the success of piecewise-linear units in generative models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generator trained purely with backpropagation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5059" y="2560320"/>
            <a:ext cx="4787071" cy="2697480"/>
          </a:xfrm>
          <a:prstGeom prst="roundRect">
            <a:avLst>
              <a:gd name="adj" fmla="val 3390"/>
            </a:avLst>
          </a:prstGeom>
          <a:solidFill>
            <a:srgbClr val="1C2242"/>
          </a:solidFill>
          <a:ln w="12700">
            <a:solidFill>
              <a:srgbClr val="1C22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70780" y="2669955"/>
            <a:ext cx="4596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contribution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6470779" y="3081435"/>
            <a:ext cx="424076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framework: generator G and discriminator D play a two-player minimax game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optimum, G matches the data distribution and D outputs ½ everywhere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Markov chains or inference: sampling is a single forward pass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486400"/>
            <a:ext cx="6467980" cy="868680"/>
          </a:xfrm>
          <a:prstGeom prst="roundRect">
            <a:avLst>
              <a:gd name="adj" fmla="val 10526"/>
            </a:avLst>
          </a:prstGeom>
          <a:solidFill>
            <a:srgbClr val="1C2242"/>
          </a:solidFill>
          <a:ln w="12700">
            <a:solidFill>
              <a:srgbClr val="1C22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77240" y="5532120"/>
            <a:ext cx="609942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your repository link here]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notebook: </a:t>
            </a:r>
            <a:r>
              <a:rPr lang="en-US" sz="12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colab.research.google.com/drive/1E_9PuhEafMA9WoBxo3sg2rQIAdcJYwOK</a:t>
            </a:r>
            <a:endParaRPr lang="en-US" sz="1200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63CB2061-28D6-029D-5CBC-4D81A25EC652}"/>
              </a:ext>
            </a:extLst>
          </p:cNvPr>
          <p:cNvSpPr txBox="1"/>
          <p:nvPr/>
        </p:nvSpPr>
        <p:spPr>
          <a:xfrm>
            <a:off x="7406640" y="5943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</a:t>
            </a:r>
            <a:r>
              <a:rPr lang="en-US" sz="1400" b="1" kern="0" spc="300" dirty="0" err="1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Kukadiya</a:t>
            </a:r>
            <a:r>
              <a:rPr lang="en-US" sz="14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(202311034)</a:t>
            </a:r>
          </a:p>
          <a:p>
            <a:r>
              <a:rPr lang="en-US" sz="14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Bhumit Solanki(202311081)</a:t>
            </a:r>
          </a:p>
          <a:p>
            <a:r>
              <a:rPr lang="en-US" sz="14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 Virani (202311086)</a:t>
            </a:r>
            <a:endParaRPr lang="en-US" sz="1400" dirty="0"/>
          </a:p>
          <a:p>
            <a:r>
              <a:rPr lang="en-US" sz="14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 Prajapat(202311017)</a:t>
            </a:r>
            <a:endParaRPr lang="en-US" sz="1400" dirty="0"/>
          </a:p>
          <a:p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Adversarial Training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E6E9F2"/>
          </a:solidFill>
          <a:ln w="12700">
            <a:solidFill>
              <a:srgbClr val="E6E9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30352" y="1234440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z</a:t>
            </a:r>
            <a:endParaRPr lang="en-US" sz="14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100-d vector, Uniform[−1, 1]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423160" y="1874520"/>
            <a:ext cx="320040" cy="0"/>
          </a:xfrm>
          <a:prstGeom prst="line">
            <a:avLst/>
          </a:prstGeom>
          <a:noFill/>
          <a:ln w="25400">
            <a:solidFill>
              <a:srgbClr val="5B64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88920" y="12344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2862072" y="1234440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G</a:t>
            </a:r>
            <a:endParaRPr lang="en-US" sz="14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→ 512 → 512 → 784</a:t>
            </a:r>
            <a:endParaRPr lang="en-US" sz="14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+ ReLU, Sigmoid out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874520"/>
            <a:ext cx="320040" cy="0"/>
          </a:xfrm>
          <a:prstGeom prst="line">
            <a:avLst/>
          </a:prstGeom>
          <a:noFill/>
          <a:ln w="25400">
            <a:solidFill>
              <a:srgbClr val="5B64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120640" y="12344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193792" y="1234440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image G(z)</a:t>
            </a:r>
            <a:endParaRPr lang="en-US" sz="14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 values = 28×28 pixels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86600" y="1874520"/>
            <a:ext cx="320040" cy="0"/>
          </a:xfrm>
          <a:prstGeom prst="line">
            <a:avLst/>
          </a:prstGeom>
          <a:noFill/>
          <a:ln w="25400">
            <a:solidFill>
              <a:srgbClr val="5B64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452360" y="12344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525512" y="1234440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 D</a:t>
            </a:r>
            <a:endParaRPr lang="en-US" sz="14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Maxout 784 → 240 → 240 → 1</a:t>
            </a:r>
            <a:endParaRPr lang="en-US" sz="14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pieces, dropout 0.2 / 0.5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418320" y="1874520"/>
            <a:ext cx="320040" cy="0"/>
          </a:xfrm>
          <a:prstGeom prst="line">
            <a:avLst/>
          </a:prstGeom>
          <a:noFill/>
          <a:ln w="25400">
            <a:solidFill>
              <a:srgbClr val="5B64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784080" y="12344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E6E3"/>
          </a:solidFill>
          <a:ln w="12700">
            <a:solidFill>
              <a:srgbClr val="FFE6E3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9857232" y="1234440"/>
            <a:ext cx="1773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/ fake score</a:t>
            </a:r>
            <a:endParaRPr lang="en-US" sz="14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 → BCE loss</a:t>
            </a:r>
            <a:endParaRPr lang="en-US" sz="14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10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(real label 0.9, fake 0)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52360" y="301752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E6E9F2"/>
          </a:solidFill>
          <a:ln w="12700">
            <a:solidFill>
              <a:srgbClr val="E6E9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452360" y="3017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 x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digit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 flipV="1">
            <a:off x="8412480" y="2560320"/>
            <a:ext cx="0" cy="411480"/>
          </a:xfrm>
          <a:prstGeom prst="line">
            <a:avLst/>
          </a:prstGeom>
          <a:noFill/>
          <a:ln w="25400">
            <a:solidFill>
              <a:srgbClr val="5B64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457200" y="29260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Minimax objective</a:t>
            </a:r>
            <a:endParaRPr lang="en-US" sz="1300" dirty="0"/>
          </a:p>
          <a:p>
            <a:pPr marL="0" indent="0">
              <a:buNone/>
            </a:pPr>
            <a:r>
              <a:rPr lang="en-US" sz="1600" i="1" dirty="0">
                <a:solidFill>
                  <a:srgbClr val="1B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</a:t>
            </a:r>
            <a:r>
              <a:rPr lang="en-US" sz="1400" i="1" baseline="-40000" dirty="0">
                <a:solidFill>
                  <a:srgbClr val="1B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r>
              <a:rPr lang="en-US" sz="1600" i="1" dirty="0">
                <a:solidFill>
                  <a:srgbClr val="1B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max</a:t>
            </a:r>
            <a:r>
              <a:rPr lang="en-US" sz="1400" i="1" baseline="-40000" dirty="0">
                <a:solidFill>
                  <a:srgbClr val="1B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r>
              <a:rPr lang="en-US" sz="1600" i="1" dirty="0">
                <a:solidFill>
                  <a:srgbClr val="1B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V(D,G) = E[ log D(x) ] + E[ log(1 − D(G(z))) ]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692640" y="30175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iteration: one D update, then one G update (k = 1)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363931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40080" y="4178808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MNIST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617720"/>
            <a:ext cx="327355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 handwritten digits, 28×28 grayscale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50,000 train, 10,000 validation, 10,000 test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scaled to [0, 1] and flattened to 784-d vectors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274820" y="4069080"/>
            <a:ext cx="363931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457700" y="4178808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methodology steps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457700" y="4617720"/>
            <a:ext cx="327355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 minibatch of 128 real images and 128 noise vectors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D: real images → 0.9, generated images → 0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fresh noise; update G so D labels its output real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60 epochs (390 iterations each)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92440" y="4069080"/>
            <a:ext cx="363931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8275320" y="4178808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parameters &amp; techniques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4617720"/>
            <a:ext cx="327355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lr 2e-4 for G and D, β1 = 0.5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128, 60 epochs, seed 0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Maxout units + dropout in D; BatchNorm in 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One-sided label smoothing; non-saturating G loss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Reproduction &amp; Implementation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6420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PyTorch, torchvision, NumPy, Matplotlib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with a CUDA GPU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47548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preparation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81528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loaded through torchvision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divided by 255, flattened to 784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/ 10,000 / 10,000 train / val / test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TensorDataset, shuffled, drop_last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4572000"/>
            <a:ext cx="4754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0080" y="4663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&amp; experimental setup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047488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Maxout layer: linear, reshape, max over pieces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updates, k = 1; 390 steps × 60 epochs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100 noise vectors to track progress each epoch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0; batch 128; Adam lr 2e-4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0" y="1188720"/>
            <a:ext cx="6245352" cy="521208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715000" y="1280160"/>
            <a:ext cx="5788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Changes from the original paper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828800"/>
          <a:ext cx="5788152" cy="434340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reproduction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 with momentum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 (lr 2e-4, β1 0.5)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Rectifier + sigmoid units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512-512 MLP, BatchNorm + ReLU, sigmoid 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Discriminator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Maxout units + dropout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Maxout 240 units × 5 pieces, dropout 0.2 / 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loss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Minimise log(1 − D(G(z)))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Non-saturating: maximise log D(G(z))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labels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label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One-sided smoothing to 0.9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Parzen-window log-likelihood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samples, loss curves, nearest neighbours, interpolation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Comparison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6692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24358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Paper: Parzen log-likelihood on MNIST (higher is better)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91640"/>
          <a:ext cx="54864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611880"/>
            <a:ext cx="566928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703320"/>
          <a:ext cx="5394960" cy="2505456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paper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reproduction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 ± 2 (Parzen, MNIST)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computed; judged visually and from loss curves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quality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Recognisable digits; top score of the four models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digits of all 10 classes; some noisy or malformed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 are not memorised training 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 training images are cleaner; no exact copies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Latent space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 interpolation between samples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 morph 9 → 3 →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0" y="1188720"/>
            <a:ext cx="5330952" cy="521208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/mnt/user-data/uploads/1790006628414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325880"/>
            <a:ext cx="3200400" cy="187048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149840" y="1325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1.08</a:t>
            </a:r>
            <a:endParaRPr lang="en-US" sz="2600" dirty="0"/>
          </a:p>
        </p:txBody>
      </p:sp>
      <p:sp>
        <p:nvSpPr>
          <p:cNvPr id="11" name="Text 6"/>
          <p:cNvSpPr txBox="1"/>
          <p:nvPr/>
        </p:nvSpPr>
        <p:spPr>
          <a:xfrm>
            <a:off x="10149840" y="17099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 loss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10149840" y="19842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57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1.48</a:t>
            </a:r>
            <a:endParaRPr lang="en-US" sz="2600" dirty="0"/>
          </a:p>
        </p:txBody>
      </p:sp>
      <p:sp>
        <p:nvSpPr>
          <p:cNvPr id="13" name="Text 8"/>
          <p:cNvSpPr txBox="1"/>
          <p:nvPr/>
        </p:nvSpPr>
        <p:spPr>
          <a:xfrm>
            <a:off x="10149840" y="236829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 loss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149840" y="264261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B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2600" dirty="0"/>
          </a:p>
        </p:txBody>
      </p:sp>
      <p:sp>
        <p:nvSpPr>
          <p:cNvPr id="15" name="Text 10"/>
          <p:cNvSpPr txBox="1"/>
          <p:nvPr/>
        </p:nvSpPr>
        <p:spPr>
          <a:xfrm>
            <a:off x="10149840" y="302666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6583680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plateau after ~epoch 40: stable training, no divergence</a:t>
            </a:r>
            <a:endParaRPr lang="en-US" sz="1100" dirty="0"/>
          </a:p>
        </p:txBody>
      </p:sp>
      <p:pic>
        <p:nvPicPr>
          <p:cNvPr id="17" name="Image 1" descr="/mnt/user-data/uploads/1790006625609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657600"/>
            <a:ext cx="1328989" cy="19659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141269" y="3657600"/>
            <a:ext cx="122666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Nearest-neighbour check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generated digit is followed by its closest training image. Same class and similar shape, but the samples are noisier, so G is not copying the training set.</a:t>
            </a:r>
            <a:endParaRPr lang="en-US" sz="1200" dirty="0"/>
          </a:p>
        </p:txBody>
      </p:sp>
      <p:pic>
        <p:nvPicPr>
          <p:cNvPr id="19" name="Image 2" descr="/mnt/user-data/uploads/1790006630918_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5715000"/>
            <a:ext cx="4965192" cy="543833"/>
          </a:xfrm>
          <a:prstGeom prst="rect">
            <a:avLst/>
          </a:prstGeom>
        </p:spPr>
      </p:pic>
      <p:pic>
        <p:nvPicPr>
          <p:cNvPr id="23" name="Image 0" descr="/mnt/user-data/uploads/1790006621763_image.png">
            <a:extLst>
              <a:ext uri="{FF2B5EF4-FFF2-40B4-BE49-F238E27FC236}">
                <a16:creationId xmlns:a16="http://schemas.microsoft.com/office/drawing/2014/main" id="{2D54C903-A181-4319-916F-08D282DC2B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0814" y="3557915"/>
            <a:ext cx="1970626" cy="20656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Learning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291840" cy="4343400"/>
          </a:xfrm>
          <a:prstGeom prst="roundRect">
            <a:avLst>
              <a:gd name="adj" fmla="val 2778"/>
            </a:avLst>
          </a:prstGeom>
          <a:solidFill>
            <a:srgbClr val="1C2242"/>
          </a:solidFill>
          <a:ln w="12700">
            <a:solidFill>
              <a:srgbClr val="1C22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85800" y="1325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Reproduced?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qualitatively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688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adversarial setup learned to generate recognisable, diverse MNIST digits, matching the paper's main claim. The Parzen-window score (225 ± 2) was not reproduced, so the numerical comparison is still open.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23360" y="1188720"/>
            <a:ext cx="3749040" cy="2103120"/>
          </a:xfrm>
          <a:prstGeom prst="roundRect">
            <a:avLst>
              <a:gd name="adj" fmla="val 4348"/>
            </a:avLst>
          </a:prstGeom>
          <a:solidFill>
            <a:srgbClr val="1C2242"/>
          </a:solidFill>
          <a:ln w="12700">
            <a:solidFill>
              <a:srgbClr val="1C22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206240" y="1298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findings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719072"/>
            <a:ext cx="3383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blobs at epoch 1, clear digits by epoch 10, sharper by 60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≈ 1.08 and G ≈ 1.48 plateau; no collapse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latent interpolation; no memorisation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82712" y="1188720"/>
            <a:ext cx="3749040" cy="2103120"/>
          </a:xfrm>
          <a:prstGeom prst="roundRect">
            <a:avLst>
              <a:gd name="adj" fmla="val 4348"/>
            </a:avLst>
          </a:prstGeom>
          <a:solidFill>
            <a:srgbClr val="1C2242"/>
          </a:solidFill>
          <a:ln w="12700">
            <a:solidFill>
              <a:srgbClr val="1C22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165592" y="1298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Differences from the paper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165592" y="1719072"/>
            <a:ext cx="3383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BatchNorm, label smoothing, non-saturating loss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Parzen log-likelihood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samples remain noisy or malformed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023360" y="3502152"/>
            <a:ext cx="3749040" cy="2103120"/>
          </a:xfrm>
          <a:prstGeom prst="roundRect">
            <a:avLst>
              <a:gd name="adj" fmla="val 4348"/>
            </a:avLst>
          </a:prstGeom>
          <a:solidFill>
            <a:srgbClr val="1C2242"/>
          </a:solidFill>
          <a:ln w="12700">
            <a:solidFill>
              <a:srgbClr val="1C22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4206240" y="3611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4032504"/>
            <a:ext cx="3383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values do not measure sample quality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D and G; tuned dropout, β1 and label smoothing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omits some hyperparameters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82712" y="3502152"/>
            <a:ext cx="3749040" cy="2103120"/>
          </a:xfrm>
          <a:prstGeom prst="roundRect">
            <a:avLst>
              <a:gd name="adj" fmla="val 4348"/>
            </a:avLst>
          </a:prstGeom>
          <a:solidFill>
            <a:srgbClr val="1C2242"/>
          </a:solidFill>
          <a:ln w="12700">
            <a:solidFill>
              <a:srgbClr val="1C22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165592" y="3611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165592" y="4032504"/>
            <a:ext cx="3383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Parzen-window evaluation and FID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(DCGAN) and conditional GAN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Ablate BatchNorm, k and label smoothing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576072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85800" y="5760720"/>
            <a:ext cx="10835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r>
              <a:rPr lang="en-US" sz="15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networks trained only with backpropagation can learn to generate realistic digits, but judging GAN quality still needs more than loss curves.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1169</Words>
  <Application>Microsoft Office PowerPoint</Application>
  <PresentationFormat>Widescreen</PresentationFormat>
  <Paragraphs>144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Adversarial Nets - Reproduction on MNIST</dc:title>
  <dc:subject>PptxGenJS Presentation</dc:subject>
  <dc:creator>PptxGenJS</dc:creator>
  <cp:lastModifiedBy>WONDER 01</cp:lastModifiedBy>
  <cp:revision>2</cp:revision>
  <dcterms:created xsi:type="dcterms:W3CDTF">2026-09-21T16:08:14Z</dcterms:created>
  <dcterms:modified xsi:type="dcterms:W3CDTF">2026-09-21T16:18:21Z</dcterms:modified>
</cp:coreProperties>
</file>